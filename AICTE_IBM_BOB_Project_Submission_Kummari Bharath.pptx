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313" r:id="rId9"/>
    <p:sldId id="297" r:id="rId10"/>
    <p:sldId id="298" r:id="rId11"/>
    <p:sldId id="311" r:id="rId12"/>
    <p:sldId id="299" r:id="rId13"/>
    <p:sldId id="300" r:id="rId14"/>
    <p:sldId id="301" r:id="rId15"/>
    <p:sldId id="302" r:id="rId16"/>
    <p:sldId id="30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04" r:id="rId25"/>
    <p:sldId id="305" r:id="rId26"/>
    <p:sldId id="306" r:id="rId27"/>
    <p:sldId id="307" r:id="rId28"/>
    <p:sldId id="308" r:id="rId29"/>
    <p:sldId id="309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FD63C7-40B8-4E32-814B-B67A6B7925AD}" v="34" dt="2026-09-08T07:54:51.11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706" autoAdjust="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mmariBharath/Interview-Trainer-Agen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58561118"/>
              </p:ext>
            </p:extLst>
          </p:nvPr>
        </p:nvGraphicFramePr>
        <p:xfrm>
          <a:off x="1299257" y="2600315"/>
          <a:ext cx="10333290" cy="240348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297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8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02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Kummari Bharath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bharathkummari2611@gmail.com</a:t>
                      </a:r>
                      <a:endParaRPr b="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9010392575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3937001" y="3708924"/>
            <a:ext cx="1574800" cy="117757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 of  Project </a:t>
            </a:r>
            <a:r>
              <a:rPr lang="en-US" sz="2400" b="1" dirty="0"/>
              <a:t>– </a:t>
            </a:r>
            <a:r>
              <a:rPr lang="en-US" sz="2400" b="1" dirty="0">
                <a:highlight>
                  <a:srgbClr val="FFFF00"/>
                </a:highlight>
              </a:rPr>
              <a:t> Education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14629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Tile </a:t>
            </a:r>
            <a:r>
              <a:rPr lang="en-US" sz="2400" b="1" dirty="0"/>
              <a:t>– </a:t>
            </a:r>
            <a:r>
              <a:rPr lang="en-IN" sz="2400" b="1" dirty="0">
                <a:highlight>
                  <a:srgbClr val="FFFF00"/>
                </a:highlight>
              </a:rPr>
              <a:t>Interview Trainer Agent</a:t>
            </a: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42907"/>
            <a:ext cx="1060704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 Interview Trainer Agent </a:t>
            </a:r>
            <a:endParaRPr lang="en-US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An Interview Trainer Agent, powered by </a:t>
            </a:r>
            <a:r>
              <a:rPr lang="en-US" b="1" dirty="0"/>
              <a:t>RAG (Retrieval-Augmented Generation), </a:t>
            </a:r>
            <a:r>
              <a:rPr lang="en-US" dirty="0"/>
              <a:t>prepares users for </a:t>
            </a:r>
            <a:r>
              <a:rPr lang="en-US" b="1" dirty="0"/>
              <a:t>job interviews </a:t>
            </a:r>
            <a:r>
              <a:rPr lang="en-US" dirty="0"/>
              <a:t>by generating tailored </a:t>
            </a:r>
            <a:r>
              <a:rPr lang="en-US" b="1" dirty="0"/>
              <a:t>question sets and preparation strategies </a:t>
            </a:r>
            <a:r>
              <a:rPr lang="en-US" dirty="0"/>
              <a:t>based on their profile name, experience level, and job role. It retrieves </a:t>
            </a:r>
            <a:r>
              <a:rPr lang="en-US" b="1" dirty="0"/>
              <a:t>role-specific interview questions</a:t>
            </a:r>
            <a:r>
              <a:rPr lang="en-US" dirty="0"/>
              <a:t>, industry expectations, behavioral scenarios, and HR guidelines from recruitment portals, professional networks, and company interview databases. Users can input their resume or job title, and the agent provides </a:t>
            </a:r>
            <a:r>
              <a:rPr lang="en-US" b="1" dirty="0"/>
              <a:t>targeted questions, model answers, and improvement tips. </a:t>
            </a:r>
            <a:r>
              <a:rPr lang="en-US" dirty="0"/>
              <a:t>It supports both </a:t>
            </a:r>
            <a:r>
              <a:rPr lang="en-US" b="1" dirty="0"/>
              <a:t>technical and soft skill assessment</a:t>
            </a:r>
            <a:r>
              <a:rPr lang="en-US" dirty="0"/>
              <a:t>, ensuring a comprehensive interview prep experience. This </a:t>
            </a:r>
            <a:r>
              <a:rPr lang="en-US" b="1" dirty="0"/>
              <a:t>AI-driven assistan</a:t>
            </a:r>
            <a:r>
              <a:rPr lang="en-US" dirty="0"/>
              <a:t>t builds user confidence, sharpens responses, and increases </a:t>
            </a:r>
            <a:r>
              <a:rPr lang="en-US" b="1" dirty="0"/>
              <a:t>success rates </a:t>
            </a:r>
            <a:r>
              <a:rPr lang="en-US" dirty="0"/>
              <a:t>in competitive hiring environments.  </a:t>
            </a:r>
          </a:p>
          <a:p>
            <a:endParaRPr lang="en-IN" b="1" dirty="0"/>
          </a:p>
          <a:p>
            <a:r>
              <a:rPr lang="en-IN" b="1" dirty="0"/>
              <a:t>The Objective</a:t>
            </a:r>
          </a:p>
          <a:p>
            <a:r>
              <a:rPr lang="en-IN" dirty="0"/>
              <a:t>Build an </a:t>
            </a:r>
            <a:r>
              <a:rPr lang="en-IN" b="1" dirty="0"/>
              <a:t>AI-powered Interview Trainer Agent</a:t>
            </a:r>
            <a:r>
              <a:rPr lang="en-IN" dirty="0"/>
              <a:t> that delivers personalized interview preparation based on a candidate’s </a:t>
            </a:r>
            <a:r>
              <a:rPr lang="en-IN" b="1" dirty="0"/>
              <a:t>profile, experience level, resume, and target job role</a:t>
            </a:r>
            <a:r>
              <a:rPr lang="en-IN" dirty="0"/>
              <a:t>. The solution should:</a:t>
            </a:r>
          </a:p>
          <a:p>
            <a:pPr lvl="0"/>
            <a:endParaRPr lang="en-IN" b="1" dirty="0"/>
          </a:p>
          <a:p>
            <a:pPr lvl="0"/>
            <a:r>
              <a:rPr lang="en-IN" b="1" dirty="0"/>
              <a:t>Personalized Interview Preparation</a:t>
            </a:r>
            <a:r>
              <a:rPr lang="en-IN" dirty="0"/>
              <a:t> – Generate tailored interview questions based on the candidate’s profile and job role.</a:t>
            </a:r>
          </a:p>
          <a:p>
            <a:pPr lvl="0"/>
            <a:r>
              <a:rPr lang="en-IN" b="1" dirty="0"/>
              <a:t>RAG-Based Retrieval</a:t>
            </a:r>
            <a:r>
              <a:rPr lang="en-IN" dirty="0"/>
              <a:t> – Retrieve role-specific questions, industry expectations, behavioural scenarios, and HR guidelines from relevant knowledge sources.</a:t>
            </a:r>
          </a:p>
          <a:p>
            <a:pPr lvl="0"/>
            <a:r>
              <a:rPr lang="en-IN" b="1" dirty="0"/>
              <a:t>Technical &amp; Soft Skills Assessment</a:t>
            </a:r>
            <a:r>
              <a:rPr lang="en-IN" dirty="0"/>
              <a:t> – Evaluate both technical knowledge and communication/behavioural skills.</a:t>
            </a:r>
          </a:p>
          <a:p>
            <a:pPr lvl="0"/>
            <a:r>
              <a:rPr lang="en-IN" b="1" dirty="0"/>
              <a:t>Model Answers &amp; Feedback</a:t>
            </a:r>
            <a:r>
              <a:rPr lang="en-IN" dirty="0"/>
              <a:t> – Provide suitable model answers, identify weaknesses, and give actionable improvement tips.</a:t>
            </a:r>
          </a:p>
          <a:p>
            <a:pPr lvl="0"/>
            <a:r>
              <a:rPr lang="en-IN" b="1" dirty="0"/>
              <a:t>Adaptive Interview Experience</a:t>
            </a:r>
            <a:r>
              <a:rPr lang="en-IN" dirty="0"/>
              <a:t> – Dynamically adjust questions based on the candidate’s previous responses and performance.</a:t>
            </a:r>
          </a:p>
          <a:p>
            <a:pPr lvl="0"/>
            <a:r>
              <a:rPr lang="en-IN" b="1" dirty="0"/>
              <a:t>Performance Evaluation</a:t>
            </a:r>
            <a:r>
              <a:rPr lang="en-IN" dirty="0"/>
              <a:t> – Score candidate responses and generate a final interview performance report with strengths and areas for improvement.</a:t>
            </a:r>
          </a:p>
          <a:p>
            <a:pPr lvl="0"/>
            <a:r>
              <a:rPr lang="en-IN" b="1" dirty="0"/>
              <a:t>IBM Granite Integration</a:t>
            </a:r>
            <a:r>
              <a:rPr lang="en-IN" dirty="0"/>
              <a:t> – Use </a:t>
            </a:r>
            <a:r>
              <a:rPr lang="en-IN" b="1" dirty="0"/>
              <a:t>IBM Granite through watsonx.ai</a:t>
            </a:r>
            <a:r>
              <a:rPr lang="en-IN" dirty="0"/>
              <a:t> as the core generative AI model.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</a:t>
            </a:r>
            <a:r>
              <a:rPr lang="en-US" sz="2400" b="1" dirty="0"/>
              <a:t>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082040"/>
            <a:ext cx="1060704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b="1" dirty="0"/>
              <a:t>Proposed Solution: AI-Powered Interview Trainer Agent</a:t>
            </a:r>
          </a:p>
          <a:p>
            <a:r>
              <a:rPr lang="en-IN" dirty="0"/>
              <a:t>The proposed solution is an </a:t>
            </a:r>
            <a:r>
              <a:rPr lang="en-IN" b="1" dirty="0"/>
              <a:t>AI-powered Interview Trainer Agent</a:t>
            </a:r>
            <a:r>
              <a:rPr lang="en-IN" dirty="0"/>
              <a:t> built using </a:t>
            </a:r>
            <a:r>
              <a:rPr lang="en-IN" b="1" dirty="0"/>
              <a:t>IBM watsonx.ai, IBM Granite models, RAG, and IBM Bob</a:t>
            </a:r>
            <a:r>
              <a:rPr lang="en-IN" dirty="0"/>
              <a:t> to provide personalized and interactive interview preparation.</a:t>
            </a:r>
          </a:p>
          <a:p>
            <a:r>
              <a:rPr lang="en-IN" dirty="0"/>
              <a:t>At its core, the system uses a </a:t>
            </a:r>
            <a:r>
              <a:rPr lang="en-IN" b="1" dirty="0"/>
              <a:t>Retrieval-Augmented Generation (RAG)</a:t>
            </a:r>
            <a:r>
              <a:rPr lang="en-IN" dirty="0"/>
              <a:t> pipeline to retrieve relevant interview knowledge from curated sources such as role-specific questions, industry expectations, </a:t>
            </a:r>
            <a:r>
              <a:rPr lang="en-IN" dirty="0" err="1"/>
              <a:t>behavioral</a:t>
            </a:r>
            <a:r>
              <a:rPr lang="en-IN" dirty="0"/>
              <a:t> scenarios, and HR guidelines. The retrieved information is embedded and stored in a </a:t>
            </a:r>
            <a:r>
              <a:rPr lang="en-IN" b="1" dirty="0"/>
              <a:t>vector database</a:t>
            </a:r>
            <a:r>
              <a:rPr lang="en-IN" dirty="0"/>
              <a:t>, enabling the system to provide context-aware interview questions and feedback using Granite models.</a:t>
            </a:r>
          </a:p>
          <a:p>
            <a:endParaRPr lang="en-IN" dirty="0"/>
          </a:p>
          <a:p>
            <a:r>
              <a:rPr lang="en-IN" dirty="0"/>
              <a:t>The system provides the following key capabilities:</a:t>
            </a:r>
          </a:p>
          <a:p>
            <a:r>
              <a:rPr lang="en-IN" b="1" dirty="0"/>
              <a:t>Candidate Profiling Agent</a:t>
            </a:r>
            <a:r>
              <a:rPr lang="en-IN" dirty="0"/>
              <a:t> collects and </a:t>
            </a:r>
            <a:r>
              <a:rPr lang="en-IN" dirty="0" err="1"/>
              <a:t>analyzes</a:t>
            </a:r>
            <a:r>
              <a:rPr lang="en-IN" dirty="0"/>
              <a:t> candidate information such as </a:t>
            </a:r>
            <a:r>
              <a:rPr lang="en-IN" b="1" dirty="0"/>
              <a:t>resume, experience level, skills, and target job role</a:t>
            </a:r>
            <a:r>
              <a:rPr lang="en-IN" dirty="0"/>
              <a:t>.</a:t>
            </a:r>
          </a:p>
          <a:p>
            <a:r>
              <a:rPr lang="en-IN" b="1" dirty="0"/>
              <a:t>Question Generation Agent</a:t>
            </a:r>
            <a:r>
              <a:rPr lang="en-IN" dirty="0"/>
              <a:t> generates </a:t>
            </a:r>
            <a:r>
              <a:rPr lang="en-IN" b="1" dirty="0"/>
              <a:t>personalized technical, </a:t>
            </a:r>
            <a:r>
              <a:rPr lang="en-IN" b="1" dirty="0" err="1"/>
              <a:t>behavioral</a:t>
            </a:r>
            <a:r>
              <a:rPr lang="en-IN" b="1" dirty="0"/>
              <a:t>, and HR interview questions</a:t>
            </a:r>
            <a:r>
              <a:rPr lang="en-IN" dirty="0"/>
              <a:t> based on the candidate profile and retrieved knowledge.</a:t>
            </a:r>
          </a:p>
          <a:p>
            <a:r>
              <a:rPr lang="en-IN" b="1" dirty="0"/>
              <a:t>Interview Evaluation Agent</a:t>
            </a:r>
            <a:r>
              <a:rPr lang="en-IN" dirty="0"/>
              <a:t> evaluates candidate responses based on </a:t>
            </a:r>
            <a:r>
              <a:rPr lang="en-IN" b="1" dirty="0"/>
              <a:t>relevance, correctness, communication, and role-specific expectations</a:t>
            </a:r>
            <a:r>
              <a:rPr lang="en-IN" dirty="0"/>
              <a:t>, providing scores and actionable improvement feedback.</a:t>
            </a:r>
          </a:p>
          <a:p>
            <a:r>
              <a:rPr lang="en-IN" b="1" dirty="0"/>
              <a:t>Adaptive Interview Agent</a:t>
            </a:r>
            <a:r>
              <a:rPr lang="en-IN" dirty="0"/>
              <a:t> dynamically adjusts the difficulty and type of questions based on the candidate's previous responses and performance.</a:t>
            </a:r>
          </a:p>
          <a:p>
            <a:r>
              <a:rPr lang="en-IN" b="1" dirty="0"/>
              <a:t>Model Answer &amp; Feedback Module</a:t>
            </a:r>
            <a:r>
              <a:rPr lang="en-IN" dirty="0"/>
              <a:t> provides suitable </a:t>
            </a:r>
            <a:r>
              <a:rPr lang="en-IN" b="1" dirty="0"/>
              <a:t>model answers, explanations, strengths, weaknesses, and improvement suggestions</a:t>
            </a:r>
            <a:r>
              <a:rPr lang="en-IN" dirty="0"/>
              <a:t> to help candidates improve their interview performance.</a:t>
            </a:r>
          </a:p>
          <a:p>
            <a:r>
              <a:rPr lang="en-IN" dirty="0"/>
              <a:t>The solution includes a </a:t>
            </a:r>
            <a:r>
              <a:rPr lang="en-IN" b="1" dirty="0"/>
              <a:t>user-friendly Stream lit dashboard</a:t>
            </a:r>
            <a:r>
              <a:rPr lang="en-IN" dirty="0"/>
              <a:t> that allows candidates to configure interviews, answer questions interactively, view scores, and access their final performance report.</a:t>
            </a:r>
          </a:p>
          <a:p>
            <a:r>
              <a:rPr lang="en-IN" b="1" dirty="0"/>
              <a:t>IBM Bob</a:t>
            </a:r>
            <a:r>
              <a:rPr lang="en-IN" dirty="0"/>
              <a:t> is used during development to assist with agent workflow implementation, while </a:t>
            </a:r>
            <a:r>
              <a:rPr lang="en-IN" b="1" dirty="0"/>
              <a:t>IBM watsonx.ai</a:t>
            </a:r>
            <a:r>
              <a:rPr lang="en-IN" dirty="0"/>
              <a:t> provides the AI platform and </a:t>
            </a:r>
            <a:r>
              <a:rPr lang="en-IN" b="1" dirty="0"/>
              <a:t>Granite models</a:t>
            </a:r>
            <a:r>
              <a:rPr lang="en-IN" dirty="0"/>
              <a:t> power question generation, reasoning, evaluation, and personalized feedback.</a:t>
            </a:r>
          </a:p>
          <a:p>
            <a:r>
              <a:rPr lang="en-IN" dirty="0"/>
              <a:t>Overall, the solution delivers an </a:t>
            </a:r>
            <a:r>
              <a:rPr lang="en-IN" b="1" dirty="0"/>
              <a:t>end-to-end intelligent interview preparation system</a:t>
            </a:r>
            <a:r>
              <a:rPr lang="en-IN" dirty="0"/>
              <a:t> that helps candidates practice realistically, identify skill gaps, and improve their readiness for competitive job interviews.</a:t>
            </a:r>
          </a:p>
          <a:p>
            <a:endParaRPr lang="en-US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</a:t>
            </a:r>
            <a:r>
              <a:rPr lang="en-US" sz="2400" b="1" dirty="0"/>
              <a:t>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4EA8C-E9E7-9160-A273-6F0CFE17B01A}"/>
              </a:ext>
            </a:extLst>
          </p:cNvPr>
          <p:cNvSpPr txBox="1"/>
          <p:nvPr/>
        </p:nvSpPr>
        <p:spPr>
          <a:xfrm>
            <a:off x="855133" y="1443841"/>
            <a:ext cx="8288867" cy="457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IBM Bob platform</a:t>
            </a:r>
            <a:r>
              <a:rPr lang="en-IN" dirty="0"/>
              <a:t> – For developing and assisting with the implementation of the AI-powered Interview Trainer Agent.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IBM Granite 4 H Small</a:t>
            </a:r>
            <a:r>
              <a:rPr lang="en-IN" dirty="0"/>
              <a:t> – For interview question generation, natural language understanding, response evaluation, reasoning, and personalized feedback.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IBM Cloud</a:t>
            </a:r>
            <a:r>
              <a:rPr lang="en-IN" dirty="0"/>
              <a:t> – Provides the cloud infrastructure and secure environment for integrating and running the AI solution.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RAG (Retrieval-Augmented Generation)</a:t>
            </a:r>
            <a:r>
              <a:rPr lang="en-IN" dirty="0"/>
              <a:t> – Retrieves relevant interview knowledge from the knowledge base before generating role-specific questions, answers, and feedback.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IBM watsonx.ai</a:t>
            </a:r>
            <a:r>
              <a:rPr lang="en-IN" dirty="0"/>
              <a:t> – For accessing and deploying Granite models and managing the generative AI workflow.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Vector Database (FAISS)</a:t>
            </a:r>
            <a:r>
              <a:rPr lang="en-IN" dirty="0"/>
              <a:t> – For storing embeddings and enabling efficient semantic retrieval of relevant interview content for the RAG pipeline.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Python &amp; Streamlit</a:t>
            </a:r>
            <a:r>
              <a:rPr lang="en-IN" dirty="0"/>
              <a:t> – Python powers the backend AI/RAG pipeline, while Streamlit provides the interactive interview interface and performance dashboard.</a:t>
            </a:r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32F3F-EEF3-260F-52BA-6237077505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51103" y="863187"/>
            <a:ext cx="8987939" cy="533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 b="1" dirty="0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E77B4-704A-3A83-DF19-A19BAD53F9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6542" y="862241"/>
            <a:ext cx="8958916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5673-9E15-7A9E-B671-2F88CA4A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33" y="-168275"/>
            <a:ext cx="10515600" cy="1325563"/>
          </a:xfrm>
        </p:spPr>
        <p:txBody>
          <a:bodyPr/>
          <a:lstStyle/>
          <a:p>
            <a:r>
              <a:rPr lang="en-US" sz="2800" b="1" dirty="0">
                <a:solidFill>
                  <a:srgbClr val="051D3A"/>
                </a:solidFill>
                <a:latin typeface="+mj-lt"/>
                <a:ea typeface="Times New Roman"/>
                <a:cs typeface="Times New Roman"/>
                <a:sym typeface="Times New Roman"/>
              </a:rPr>
              <a:t>IBM Bob Screenshots</a:t>
            </a:r>
            <a:r>
              <a:rPr lang="en-US" sz="4000" b="1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0DE1EB-2E36-8D64-62A1-9BEDDB899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867" y="787400"/>
            <a:ext cx="10092266" cy="564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93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3A290A-6680-D490-E6D4-9336496B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5894" y="400546"/>
            <a:ext cx="9628277" cy="571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342857" y="69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9F4EB2-FB5A-0B1D-980E-C1BCE7B72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1746"/>
            <a:ext cx="12192000" cy="608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24B4-C578-3AEF-BFA3-51053FF7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3" y="-36036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j-lt"/>
              </a:rPr>
              <a:t>Architecture blueprint for IBM bob</a:t>
            </a:r>
            <a:endParaRPr lang="en-IN" sz="28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45D1B8-F189-1533-BDA5-ED63E90B2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1932"/>
            <a:ext cx="12192000" cy="62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50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30259" y="1167493"/>
            <a:ext cx="7406640" cy="580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Role of Agentic AI in the Interview Trainer Agent</a:t>
            </a:r>
          </a:p>
          <a:p>
            <a:pPr>
              <a:lnSpc>
                <a:spcPct val="150000"/>
              </a:lnSpc>
            </a:pPr>
            <a:r>
              <a:rPr lang="en-IN" b="1" dirty="0"/>
              <a:t>Agentic AI</a:t>
            </a:r>
            <a:r>
              <a:rPr lang="en-IN" dirty="0"/>
              <a:t> enables the Interview Trainer Agent to function as an intelligent, goal-driven system rather than a simple question-and-answer chatbot. Using </a:t>
            </a:r>
            <a:r>
              <a:rPr lang="en-IN" b="1" dirty="0"/>
              <a:t>IBM watsonx.ai and IBM Granite</a:t>
            </a:r>
            <a:r>
              <a:rPr lang="en-IN" dirty="0"/>
              <a:t>, it coordinates the interview preparation and evaluation workflow based on the candidate’s profile and responses.</a:t>
            </a:r>
          </a:p>
          <a:p>
            <a:pPr>
              <a:lnSpc>
                <a:spcPct val="150000"/>
              </a:lnSpc>
            </a:pPr>
            <a:r>
              <a:rPr lang="en-IN" dirty="0"/>
              <a:t>The agent uses </a:t>
            </a:r>
            <a:r>
              <a:rPr lang="en-IN" b="1" dirty="0"/>
              <a:t>candidate context</a:t>
            </a:r>
            <a:r>
              <a:rPr lang="en-IN" dirty="0"/>
              <a:t>, including the resume, experience level, skills, and target job role, to generate relevant interview questions. It combines this information with </a:t>
            </a:r>
            <a:r>
              <a:rPr lang="en-IN" b="1" dirty="0"/>
              <a:t>RAG-retrieved knowledge</a:t>
            </a:r>
            <a:r>
              <a:rPr lang="en-IN" dirty="0"/>
              <a:t> to provide role-specific and context-aware questions.</a:t>
            </a:r>
          </a:p>
          <a:p>
            <a:pPr>
              <a:lnSpc>
                <a:spcPct val="150000"/>
              </a:lnSpc>
            </a:pPr>
            <a:r>
              <a:rPr lang="en-IN" dirty="0"/>
              <a:t>The system supports </a:t>
            </a:r>
            <a:r>
              <a:rPr lang="en-IN" b="1" dirty="0"/>
              <a:t>dynamic adaptation</a:t>
            </a:r>
            <a:r>
              <a:rPr lang="en-IN" dirty="0"/>
              <a:t>, adjusting subsequent questions based on the candidate’s previous answers and performance. It can handle different interview areas such as </a:t>
            </a:r>
            <a:r>
              <a:rPr lang="en-IN" b="1" dirty="0"/>
              <a:t>technical, behavioural, and HR questions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dirty="0"/>
              <a:t>Agentic AI also enables the system to evaluate candidate responses, generate </a:t>
            </a:r>
            <a:r>
              <a:rPr lang="en-IN" b="1" dirty="0"/>
              <a:t>scores, model answers, feedback, and improvement suggestions</a:t>
            </a:r>
            <a:r>
              <a:rPr lang="en-IN" dirty="0"/>
              <a:t>, helping candidates identify their strengths and areas that need improvement.</a:t>
            </a:r>
          </a:p>
          <a:p>
            <a:pPr>
              <a:lnSpc>
                <a:spcPct val="150000"/>
              </a:lnSpc>
            </a:pPr>
            <a:r>
              <a:rPr lang="en-IN" dirty="0"/>
              <a:t>Overall, Agentic AI makes the Interview Trainer </a:t>
            </a:r>
            <a:r>
              <a:rPr lang="en-IN" b="1" dirty="0"/>
              <a:t>personalized, adaptive, and interactive</a:t>
            </a:r>
            <a:r>
              <a:rPr lang="en-IN" dirty="0"/>
              <a:t>, providing candidates with a realistic interview practice experience and a structured performance report.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Token Usage 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1,67,075 tokens are used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29AF1D-88C4-87E5-74DF-4E97121E06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272" y="2453591"/>
            <a:ext cx="5202728" cy="32021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1444F5-0692-DD67-1759-70821E53B0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25067" y="2451180"/>
            <a:ext cx="5723465" cy="32021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 dirty="0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 dirty="0"/>
              <a:t>After the Prompt</a:t>
            </a:r>
          </a:p>
        </p:txBody>
      </p:sp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</a:t>
            </a:r>
            <a:r>
              <a:rPr lang="en-US" sz="2800" b="1" dirty="0">
                <a:sym typeface="Times New Roman"/>
              </a:rPr>
              <a:t>Project Output Screenshot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0EE8C-8F89-5938-483F-00452050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78202" y="885593"/>
            <a:ext cx="9625758" cy="57152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</a:t>
            </a:r>
            <a:r>
              <a:rPr lang="en-US" sz="2800" b="1" dirty="0">
                <a:sym typeface="Times New Roman"/>
              </a:rPr>
              <a:t>Project Output Screenshot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B9DE6-C4BB-B81B-528A-B8789445C3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3000" y="816977"/>
            <a:ext cx="9550400" cy="56938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</a:t>
            </a:r>
            <a:r>
              <a:rPr lang="en-US" sz="2800" b="1" dirty="0">
                <a:sym typeface="Times New Roman"/>
              </a:rPr>
              <a:t>Project Output Screenshot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C1B5E-405A-0E58-2397-353A88D82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9675" y="800029"/>
            <a:ext cx="10012649" cy="59450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125C-1C09-62C2-D35E-1E637F312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-21907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j-lt"/>
                <a:sym typeface="Times New Roman"/>
              </a:rPr>
              <a:t>Project Output Screenshot</a:t>
            </a:r>
            <a:endParaRPr lang="en-IN" sz="28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5A50C4-6889-D9EC-9AB8-AD2FC6432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26" y="778933"/>
            <a:ext cx="10186737" cy="57742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77363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A88B-06F9-7B8E-0470-A76E4D80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4" y="-159808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j-lt"/>
                <a:cs typeface="Arial" panose="020B0604020202020204" pitchFamily="34" charset="0"/>
                <a:sym typeface="Times New Roman"/>
              </a:rPr>
              <a:t>Project Output Screenshot</a:t>
            </a:r>
            <a:endParaRPr lang="en-IN" sz="28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968F70-F3A1-CFC6-3392-2F3940E14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97466" y="880532"/>
            <a:ext cx="10267840" cy="56303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39870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52CBA-2BB9-A4C8-A32D-1B3B86D6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-185208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j-lt"/>
                <a:cs typeface="Arial" panose="020B0604020202020204" pitchFamily="34" charset="0"/>
                <a:sym typeface="Times New Roman"/>
              </a:rPr>
              <a:t>Project Output Screenshot</a:t>
            </a:r>
            <a:endParaRPr lang="en-IN" sz="28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2AB2BC-296B-1868-70D0-24229D4C4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27" y="660399"/>
            <a:ext cx="10250906" cy="60536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40380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2F23-7E9A-4499-1A8F-6694B8CCB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42" y="-17585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j-lt"/>
                <a:cs typeface="Arial" panose="020B0604020202020204" pitchFamily="34" charset="0"/>
                <a:sym typeface="Times New Roman"/>
              </a:rPr>
              <a:t>Project Output Screenshot</a:t>
            </a:r>
            <a:endParaRPr lang="en-IN" sz="28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44F624-E780-CE6D-AEC8-C29A86ADA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11" y="685800"/>
            <a:ext cx="10331116" cy="59075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19282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4C5A-0312-96A0-3F6F-2D7F5C64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21" y="-276559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j-lt"/>
                <a:cs typeface="Arial" panose="020B0604020202020204" pitchFamily="34" charset="0"/>
                <a:sym typeface="Times New Roman"/>
              </a:rPr>
              <a:t>Project Output Screenshot</a:t>
            </a:r>
            <a:endParaRPr lang="en-IN" sz="28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2899DE-62DD-2AB9-7D78-C750AA2E3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32" y="778043"/>
            <a:ext cx="10138610" cy="56548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85742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6A33-2A7C-F7F2-EDFD-75E85B3B0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47" y="-292601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j-lt"/>
                <a:cs typeface="Arial" panose="020B0604020202020204" pitchFamily="34" charset="0"/>
                <a:sym typeface="Times New Roman"/>
              </a:rPr>
              <a:t>Project Output Screenshot</a:t>
            </a:r>
            <a:endParaRPr lang="en-IN" sz="28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96CDF7-3A1E-C8D9-1A75-92A428DA5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94" y="665748"/>
            <a:ext cx="10459453" cy="6096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1304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C731BD-8BA0-A1CE-CDDC-81E45018408C}"/>
              </a:ext>
            </a:extLst>
          </p:cNvPr>
          <p:cNvSpPr txBox="1"/>
          <p:nvPr/>
        </p:nvSpPr>
        <p:spPr>
          <a:xfrm>
            <a:off x="344906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+mj-lt"/>
                <a:cs typeface="Arial" panose="020B0604020202020204" pitchFamily="34" charset="0"/>
                <a:sym typeface="Times New Roman"/>
              </a:rPr>
              <a:t>Project Output Screenshot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973D58-C196-8C3F-E092-066F3586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10" y="523220"/>
            <a:ext cx="10515601" cy="61040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98358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The proposed </a:t>
            </a:r>
            <a:r>
              <a:rPr lang="en-IN" sz="1600" b="1" dirty="0"/>
              <a:t>Interview Trainer Agent</a:t>
            </a:r>
            <a:r>
              <a:rPr lang="en-IN" sz="1600" dirty="0"/>
              <a:t> stands out by combining </a:t>
            </a:r>
            <a:r>
              <a:rPr lang="en-IN" sz="1600" b="1" dirty="0"/>
              <a:t>Agentic AI, RAG, personalization, adaptive questioning, and AI-based evaluation</a:t>
            </a:r>
            <a:r>
              <a:rPr lang="en-IN" sz="1600" dirty="0"/>
              <a:t> into a single intelligent interview preparation system.</a:t>
            </a:r>
          </a:p>
          <a:p>
            <a:r>
              <a:rPr lang="en-IN" sz="1600" b="1" dirty="0"/>
              <a:t>Personalized Interview Preparation</a:t>
            </a:r>
            <a:r>
              <a:rPr lang="en-IN" sz="1600" dirty="0"/>
              <a:t> – Generates interview questions based on the candidate’s </a:t>
            </a:r>
            <a:r>
              <a:rPr lang="en-IN" sz="1600" b="1" dirty="0"/>
              <a:t>resume, experience level, skills, and target job role</a:t>
            </a:r>
            <a:r>
              <a:rPr lang="en-IN" sz="1600" dirty="0"/>
              <a:t>.</a:t>
            </a:r>
          </a:p>
          <a:p>
            <a:endParaRPr lang="en-IN" sz="1600" b="1" dirty="0"/>
          </a:p>
          <a:p>
            <a:r>
              <a:rPr lang="en-IN" sz="1600" b="1" dirty="0"/>
              <a:t>RAG-Based Knowledge Retrieval</a:t>
            </a:r>
            <a:r>
              <a:rPr lang="en-IN" sz="1600" dirty="0"/>
              <a:t> – Retrieves relevant role-specific interview knowledge and uses it as context for generating targeted questions and feedback.</a:t>
            </a:r>
          </a:p>
          <a:p>
            <a:r>
              <a:rPr lang="en-IN" sz="1600" b="1" dirty="0"/>
              <a:t>Adaptive Interview Flow</a:t>
            </a:r>
            <a:r>
              <a:rPr lang="en-IN" sz="1600" dirty="0"/>
              <a:t> – Dynamically adjusts subsequent questions based on the candidate’s previous responses and performance.</a:t>
            </a:r>
          </a:p>
          <a:p>
            <a:r>
              <a:rPr lang="en-IN" sz="1600" b="1" dirty="0"/>
              <a:t>Technical &amp; Behavioral Assessment</a:t>
            </a:r>
            <a:r>
              <a:rPr lang="en-IN" sz="1600" dirty="0"/>
              <a:t> – Supports both </a:t>
            </a:r>
            <a:r>
              <a:rPr lang="en-IN" sz="1600" b="1" dirty="0"/>
              <a:t>technical and soft-skill interview preparation</a:t>
            </a:r>
            <a:r>
              <a:rPr lang="en-IN" sz="1600" dirty="0"/>
              <a:t>, providing a more comprehensive practice experience.</a:t>
            </a:r>
          </a:p>
          <a:p>
            <a:r>
              <a:rPr lang="en-IN" sz="1600" b="1" dirty="0"/>
              <a:t>AI-Powered Evaluation</a:t>
            </a:r>
            <a:r>
              <a:rPr lang="en-IN" sz="1600" dirty="0"/>
              <a:t> – Analyzes candidate responses and provides </a:t>
            </a:r>
            <a:r>
              <a:rPr lang="en-IN" sz="1600" b="1" dirty="0"/>
              <a:t>scores, strengths, weaknesses, model answers, and improvement suggestions</a:t>
            </a:r>
            <a:r>
              <a:rPr lang="en-IN" sz="1600" dirty="0"/>
              <a:t>.</a:t>
            </a:r>
          </a:p>
          <a:p>
            <a:r>
              <a:rPr lang="en-IN" sz="1600" b="1" dirty="0"/>
              <a:t>Context-Aware Question Generation</a:t>
            </a:r>
            <a:r>
              <a:rPr lang="en-IN" sz="1600" dirty="0"/>
              <a:t> – Uses candidate information and retrieved knowledge to generate questions that are relevant to the selected role rather than relying on a fixed question set.</a:t>
            </a:r>
          </a:p>
          <a:p>
            <a:r>
              <a:rPr lang="en-IN" sz="1600" b="1" dirty="0"/>
              <a:t>End-to-End Interview Experience</a:t>
            </a:r>
            <a:r>
              <a:rPr lang="en-IN" sz="1600" dirty="0"/>
              <a:t> – Combines candidate profiling, question generation, response evaluation, adaptive questioning, and final performance reporting in one application.</a:t>
            </a:r>
          </a:p>
          <a:p>
            <a:r>
              <a:rPr lang="en-IN" sz="1600" b="1" dirty="0"/>
              <a:t>IBM Granite &amp; watsonx.ai Integration</a:t>
            </a:r>
            <a:r>
              <a:rPr lang="en-IN" sz="1600" dirty="0"/>
              <a:t> – Uses </a:t>
            </a:r>
            <a:r>
              <a:rPr lang="en-IN" sz="1600" b="1" dirty="0"/>
              <a:t>IBM Granite 4 H Small through IBM watsonx.ai</a:t>
            </a:r>
            <a:r>
              <a:rPr lang="en-IN" sz="1600" dirty="0"/>
              <a:t> as the core generative AI technology.</a:t>
            </a:r>
          </a:p>
          <a:p>
            <a:r>
              <a:rPr lang="en-IN" sz="1600" b="1" dirty="0"/>
              <a:t>This makes the solution a personalized, adaptive, and intelligent interview preparation system rather than a static question bank or basic chatbot.</a:t>
            </a:r>
            <a:endParaRPr lang="en-IN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706696" y="1370281"/>
            <a:ext cx="1042444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IN" sz="18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https://github.com/kummariBharath/Interview-Trainer-Agent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706695" y="1596650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114926" y="1221715"/>
            <a:ext cx="9318378" cy="5636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1600" b="1" dirty="0"/>
              <a:t>1. Advanced Resume &amp; Job Description Analysis –</a:t>
            </a:r>
            <a:br>
              <a:rPr lang="en-IN" sz="1600" dirty="0"/>
            </a:br>
            <a:r>
              <a:rPr lang="en-IN" sz="1600" dirty="0"/>
              <a:t>The system can be enhanced to </a:t>
            </a:r>
            <a:r>
              <a:rPr lang="en-IN" sz="1600" dirty="0" err="1"/>
              <a:t>analyze</a:t>
            </a:r>
            <a:r>
              <a:rPr lang="en-IN" sz="1600" dirty="0"/>
              <a:t> resumes and job descriptions in greater depth, automatically identifying </a:t>
            </a:r>
            <a:r>
              <a:rPr lang="en-IN" sz="1600" b="1" dirty="0"/>
              <a:t>skill gaps, required competencies, and areas of improvement</a:t>
            </a:r>
            <a:r>
              <a:rPr lang="en-IN" sz="1600" dirty="0"/>
              <a:t> for a specific target role.</a:t>
            </a:r>
          </a:p>
          <a:p>
            <a:r>
              <a:rPr lang="en-IN" sz="1600" b="1" dirty="0"/>
              <a:t>2. Multilingual &amp; Voice-Based Interviews –</a:t>
            </a:r>
            <a:br>
              <a:rPr lang="en-IN" sz="1600" dirty="0"/>
            </a:br>
            <a:r>
              <a:rPr lang="en-IN" sz="1600" dirty="0"/>
              <a:t>Future versions can support </a:t>
            </a:r>
            <a:r>
              <a:rPr lang="en-IN" sz="1600" b="1" dirty="0"/>
              <a:t>voice-based interviews and multiple languages</a:t>
            </a:r>
            <a:r>
              <a:rPr lang="en-IN" sz="1600" dirty="0"/>
              <a:t>, allowing candidates to practice speaking, communication, and </a:t>
            </a:r>
            <a:r>
              <a:rPr lang="en-IN" sz="1600" dirty="0" err="1"/>
              <a:t>behavioral</a:t>
            </a:r>
            <a:r>
              <a:rPr lang="en-IN" sz="1600" dirty="0"/>
              <a:t> responses in a more realistic interview environment.</a:t>
            </a:r>
          </a:p>
          <a:p>
            <a:r>
              <a:rPr lang="en-IN" sz="1600" b="1" dirty="0"/>
              <a:t>3. Advanced Adaptive Interviewing –</a:t>
            </a:r>
            <a:br>
              <a:rPr lang="en-IN" sz="1600" dirty="0"/>
            </a:br>
            <a:r>
              <a:rPr lang="en-IN" sz="1600" dirty="0"/>
              <a:t>The agent can become more intelligent by dynamically adjusting </a:t>
            </a:r>
            <a:r>
              <a:rPr lang="en-IN" sz="1600" b="1" dirty="0"/>
              <a:t>question difficulty, topic selection, and interview strategy</a:t>
            </a:r>
            <a:r>
              <a:rPr lang="en-IN" sz="1600" dirty="0"/>
              <a:t> based on the candidate's performance throughout the session.</a:t>
            </a:r>
          </a:p>
          <a:p>
            <a:r>
              <a:rPr lang="en-IN" sz="1600" b="1" dirty="0"/>
              <a:t>4. Interview Analytics &amp; Progress Tracking –</a:t>
            </a:r>
            <a:br>
              <a:rPr lang="en-IN" sz="1600" dirty="0"/>
            </a:br>
            <a:r>
              <a:rPr lang="en-IN" sz="1600" dirty="0"/>
              <a:t>A long-term analytics system can track </a:t>
            </a:r>
            <a:r>
              <a:rPr lang="en-IN" sz="1600" b="1" dirty="0"/>
              <a:t>scores, strengths, weaknesses, skill development, and performance trends</a:t>
            </a:r>
            <a:r>
              <a:rPr lang="en-IN" sz="1600" dirty="0"/>
              <a:t> across multiple practice sessions.</a:t>
            </a:r>
          </a:p>
          <a:p>
            <a:r>
              <a:rPr lang="en-IN" sz="1600" b="1" dirty="0"/>
              <a:t>5. Real-Time Interview Simulation –</a:t>
            </a:r>
            <a:br>
              <a:rPr lang="en-IN" sz="1600" dirty="0"/>
            </a:br>
            <a:r>
              <a:rPr lang="en-IN" sz="1600" dirty="0"/>
              <a:t>The system can be extended into a more realistic </a:t>
            </a:r>
            <a:r>
              <a:rPr lang="en-IN" sz="1600" b="1" dirty="0"/>
              <a:t>AI mock interview environment</a:t>
            </a:r>
            <a:r>
              <a:rPr lang="en-IN" sz="1600" dirty="0"/>
              <a:t>, including timed responses, follow-up questions, conversational interaction, and role-specific interview scenarios.</a:t>
            </a:r>
          </a:p>
          <a:p>
            <a:r>
              <a:rPr lang="en-IN" sz="1600" b="1" dirty="0"/>
              <a:t>6. Expanded Knowledge Base –</a:t>
            </a:r>
            <a:br>
              <a:rPr lang="en-IN" sz="1600" dirty="0"/>
            </a:br>
            <a:r>
              <a:rPr lang="en-IN" sz="1600" dirty="0"/>
              <a:t>The RAG knowledge base can be continuously expanded with </a:t>
            </a:r>
            <a:r>
              <a:rPr lang="en-IN" sz="1600" b="1" dirty="0"/>
              <a:t>industry-specific questions, company interview patterns, emerging technologies, and updated hiring expectations</a:t>
            </a:r>
            <a:r>
              <a:rPr lang="en-IN" sz="1600" dirty="0"/>
              <a:t>.</a:t>
            </a:r>
          </a:p>
          <a:p>
            <a:r>
              <a:rPr lang="en-IN" sz="1600" b="1" dirty="0"/>
              <a:t>7. Personalized Career Guidance –</a:t>
            </a:r>
            <a:br>
              <a:rPr lang="en-IN" sz="1600" dirty="0"/>
            </a:br>
            <a:r>
              <a:rPr lang="en-IN" sz="1600" dirty="0"/>
              <a:t>The agent could eventually provide recommendations for </a:t>
            </a:r>
            <a:r>
              <a:rPr lang="en-IN" sz="1600" b="1" dirty="0"/>
              <a:t>skills to learn, interview preparation plans, and suitable roles</a:t>
            </a:r>
            <a:r>
              <a:rPr lang="en-IN" sz="1600" dirty="0"/>
              <a:t> based on the candidate's performance and profile.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(Getting Started with Artificial Intelligence)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A880DE-F583-849E-E788-382AD9A50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066" y="1367169"/>
            <a:ext cx="8722519" cy="518603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9C3698-991D-7A38-C456-893C84C2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3" b="2003"/>
          <a:stretch/>
        </p:blipFill>
        <p:spPr>
          <a:xfrm>
            <a:off x="2512736" y="1712637"/>
            <a:ext cx="7177553" cy="465857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1685</Words>
  <Application>Microsoft Office PowerPoint</Application>
  <PresentationFormat>Widescreen</PresentationFormat>
  <Paragraphs>128</Paragraphs>
  <Slides>29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Bob Screenshots:</vt:lpstr>
      <vt:lpstr>PowerPoint Presentation</vt:lpstr>
      <vt:lpstr>PowerPoint Presentation</vt:lpstr>
      <vt:lpstr>Architecture blueprint for IBM bob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Output Screenshot</vt:lpstr>
      <vt:lpstr>Project Output Screenshot</vt:lpstr>
      <vt:lpstr>Project Output Screenshot</vt:lpstr>
      <vt:lpstr>Project Output Screenshot</vt:lpstr>
      <vt:lpstr>Project Output Screenshot</vt:lpstr>
      <vt:lpstr>Project Output Screenshot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Kummari Bharath</dc:creator>
  <cp:keywords>project</cp:keywords>
  <cp:lastModifiedBy>kummari bharath</cp:lastModifiedBy>
  <cp:revision>5</cp:revision>
  <dcterms:created xsi:type="dcterms:W3CDTF">2025-07-08T05:06:56Z</dcterms:created>
  <dcterms:modified xsi:type="dcterms:W3CDTF">2026-09-08T07:58:19Z</dcterms:modified>
</cp:coreProperties>
</file>